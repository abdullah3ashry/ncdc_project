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Raleway" pitchFamily="2" charset="0"/>
      <p:regular r:id="rId9"/>
      <p:bold r:id="rId10"/>
      <p:italic r:id="rId11"/>
      <p:boldItalic r:id="rId12"/>
    </p:embeddedFont>
    <p:embeddedFont>
      <p:font typeface="Raleway Light" pitchFamily="2" charset="0"/>
      <p:regular r:id="rId13"/>
      <p: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Bold" panose="02000000000000000000" pitchFamily="2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E6B84-D4AF-4E27-9A63-83B26A99DC0A}" v="8" dt="2026-09-07T19:53:06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B213D-60D5-4109-8EC2-2650C076747D}" type="datetimeFigureOut"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D7472-58B4-460B-A1DA-10134B154B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96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30562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ASIC Physical Design: From Custom RTL to GDSII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712071"/>
            <a:ext cx="6296860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NIPIS '26 Internship at NUST Chip Design Centre (NCDC)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Abdullah Ahmed Sayed Abdelsamea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79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Full-Stack TSMC 65nm Flow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3662"/>
            <a:ext cx="3541822" cy="35419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3060" y="158879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613060" y="1850727"/>
            <a:ext cx="337900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4613060" y="1971477"/>
            <a:ext cx="33790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13060" y="2395240"/>
            <a:ext cx="337900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RV32I datapath RTL and functional testbenches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57363" y="158879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57363" y="1850727"/>
            <a:ext cx="337910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8157363" y="1971477"/>
            <a:ext cx="33791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Logic Synthesis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57363" y="2395240"/>
            <a:ext cx="337910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Cadence Genus mapping to TSMC 65nm standard cells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13060" y="321379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13060" y="3475732"/>
            <a:ext cx="337900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4613060" y="3596481"/>
            <a:ext cx="33790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Formal Verification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3060" y="4020245"/>
            <a:ext cx="337900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boolean equivalence via Cadence Conformal LEC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57363" y="321379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57363" y="3475732"/>
            <a:ext cx="337910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8157363" y="3596481"/>
            <a:ext cx="33791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Physical Implementation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57363" y="4020245"/>
            <a:ext cx="337910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Floorplanning, power planning, placement, CTS, and routing in Cadence Innovus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13060" y="483879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13060" y="5100737"/>
            <a:ext cx="69234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9"/>
          <p:cNvSpPr/>
          <p:nvPr/>
        </p:nvSpPr>
        <p:spPr>
          <a:xfrm>
            <a:off x="4613060" y="5221486"/>
            <a:ext cx="69234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Signoff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13060" y="5645249"/>
            <a:ext cx="692341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MMMC static timing analysis with Cadence Tempus</a:t>
            </a:r>
            <a:endParaRPr lang="en-US" sz="13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64FEB1-63D8-B12E-FAE4-39395E332CE1}"/>
              </a:ext>
            </a:extLst>
          </p:cNvPr>
          <p:cNvSpPr/>
          <p:nvPr/>
        </p:nvSpPr>
        <p:spPr>
          <a:xfrm>
            <a:off x="10886302" y="6456405"/>
            <a:ext cx="1295399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43025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Foundational Training: 4-bit Counter &amp; 8-bit ALU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2624534"/>
            <a:ext cx="3065783" cy="1759446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3119" y="2796183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Physical Design Constraints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3119" y="3153866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Mastered placement rules, design rule checks, and layout hierarchies through hands-on custom block design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892552" y="2624534"/>
            <a:ext cx="3065783" cy="1759446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4196" y="2796183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I/O Pad Ring Integration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64196" y="3153866"/>
            <a:ext cx="27224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Deployed TSMC 65nm bidirectional pads and corner cells for full I/O ring closure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4549279"/>
            <a:ext cx="6296860" cy="965597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3119" y="472092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80.8% Via Insertion Rate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3119" y="5078611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Multi-cut via strategy applied for DFM yield enhancement across all metal layers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49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Capstone: 32-bit RISC-V Processor Core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86309"/>
            <a:ext cx="4210838" cy="445015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2127" y="1586309"/>
            <a:ext cx="2984525" cy="20824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70320" y="169515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5586471" y="2266752"/>
            <a:ext cx="26158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Floorplan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586471" y="2690515"/>
            <a:ext cx="26158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350µm × 350µm macro with 168 boundary I/O ports on M3/M4 metal layers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1946" y="1586309"/>
            <a:ext cx="2984525" cy="20824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20139" y="169515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8736290" y="2266752"/>
            <a:ext cx="26158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736290" y="2690515"/>
            <a:ext cx="26158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High-density mesh — M6/M7 global rings and 152 M4 vertical stripes delivering 47,000+ vias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2127" y="3834011"/>
            <a:ext cx="2984525" cy="20824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70320" y="39428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5586471" y="4514453"/>
            <a:ext cx="26158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Clock Tree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586471" y="4938216"/>
            <a:ext cx="26158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Zero-skew CTS feeding 1,024 sequential flip-flop sinks across the full core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1946" y="3834011"/>
            <a:ext cx="2984525" cy="208240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920139" y="39428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8736290" y="4514453"/>
            <a:ext cx="26158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Routing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736290" y="4938216"/>
            <a:ext cx="26158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completion across 10,983 nets with zero congestion violations</a:t>
            </a:r>
            <a:endParaRPr lang="en-US" sz="13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CA03AF-1D48-8417-A4C7-B262B0BF0195}"/>
              </a:ext>
            </a:extLst>
          </p:cNvPr>
          <p:cNvSpPr/>
          <p:nvPr/>
        </p:nvSpPr>
        <p:spPr>
          <a:xfrm>
            <a:off x="10886302" y="6456405"/>
            <a:ext cx="1295399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987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Signoff Results &amp; Timing Closure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9955"/>
            <a:ext cx="3485071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174.52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661475" y="2142430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MHz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2500114"/>
            <a:ext cx="34850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Clock frequency achieved (5.73 ns period)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53213" y="1389955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5.41</a:t>
            </a:r>
            <a:endParaRPr lang="en-US" sz="4250" dirty="0"/>
          </a:p>
        </p:txBody>
      </p:sp>
      <p:sp>
        <p:nvSpPr>
          <p:cNvPr id="7" name="Text 5"/>
          <p:cNvSpPr/>
          <p:nvPr/>
        </p:nvSpPr>
        <p:spPr>
          <a:xfrm>
            <a:off x="4353213" y="2142430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mW Power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53213" y="2500114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power consumption at signoff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5050" y="1389955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+1.70</a:t>
            </a:r>
            <a:endParaRPr lang="en-US" sz="4250" dirty="0"/>
          </a:p>
        </p:txBody>
      </p:sp>
      <p:sp>
        <p:nvSpPr>
          <p:cNvPr id="10" name="Text 8"/>
          <p:cNvSpPr/>
          <p:nvPr/>
        </p:nvSpPr>
        <p:spPr>
          <a:xfrm>
            <a:off x="8045050" y="2142430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ns Slack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5050" y="2500114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 slack on all Reg2Reg paths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01277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 Signoff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475" y="351928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 DRC violations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 LVS violations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confirmed full physical and electrical correctness of the RISC-V core layout.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969941"/>
            <a:ext cx="7287633" cy="131623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61475" y="5472212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E1E1E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5711924"/>
            <a:ext cx="206667" cy="16529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98731" y="5678785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Recommendation: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 an automated MMMC TCL generation script to minimize manual setup errors and streamline the Genus-to-Innovus handoff for future tape-outs.</a:t>
            </a:r>
            <a:endParaRPr lang="en-US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A7A94-D801-040B-AF01-D7FD9FBA04EC}"/>
              </a:ext>
            </a:extLst>
          </p:cNvPr>
          <p:cNvSpPr/>
          <p:nvPr/>
        </p:nvSpPr>
        <p:spPr>
          <a:xfrm>
            <a:off x="10886302" y="6456405"/>
            <a:ext cx="1295399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7599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40769"/>
            <a:ext cx="6296860" cy="12556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2017" y="2525117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RTL to Silicon, End-to-End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22017" y="2882801"/>
            <a:ext cx="585197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bridged behavioral software logic all the way to physical silicon manufacturing constraints — completing a full GDSII-ready design.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61680"/>
            <a:ext cx="6296860" cy="15202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2017" y="3946029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Foundry Methodology at Zewail City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922017" y="4303712"/>
            <a:ext cx="585197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Foundry-level physical design methodologies and TSMC 65nm know-how will directly inform upcoming on-chip hardware accelerator projects at Zewail City of Science and Technology.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7</cp:revision>
  <dcterms:created xsi:type="dcterms:W3CDTF">2026-09-07T19:48:44Z</dcterms:created>
  <dcterms:modified xsi:type="dcterms:W3CDTF">2026-09-07T19:53:22Z</dcterms:modified>
</cp:coreProperties>
</file>